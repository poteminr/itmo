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ed0dc887e34b9a" /><Relationship Type="http://schemas.openxmlformats.org/officeDocument/2006/relationships/extended-properties" Target="/docProps/app.xml" Id="Raf59975d5bb14ab3" /><Relationship Type="http://schemas.openxmlformats.org/officeDocument/2006/relationships/officeDocument" Target="/ppt/presentation.xml" Id="R97b61a1aa07f48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18c5d6a3747bb"/>
  </p:sldMasterIdLst>
  <p:notesMasterIdLst>
    <p:notesMasterId xmlns:r="http://schemas.openxmlformats.org/officeDocument/2006/relationships" r:id="R56c49b81b67347e2"/>
  </p:notesMasterIdLst>
  <p:sldIdLst>
    <p:sldId xmlns:r="http://schemas.openxmlformats.org/officeDocument/2006/relationships" id="256" r:id="R2fcd68168bbc4f20"/>
    <p:sldId xmlns:r="http://schemas.openxmlformats.org/officeDocument/2006/relationships" id="257" r:id="Rf9d5ee74e01443ca"/>
    <p:sldId xmlns:r="http://schemas.openxmlformats.org/officeDocument/2006/relationships" id="258" r:id="R87e7cd24b10f48d7"/>
    <p:sldId xmlns:r="http://schemas.openxmlformats.org/officeDocument/2006/relationships" id="259" r:id="R9293f2ee369c4969"/>
    <p:sldId xmlns:r="http://schemas.openxmlformats.org/officeDocument/2006/relationships" id="260" r:id="Rbb23127ff6b843f0"/>
    <p:sldId xmlns:r="http://schemas.openxmlformats.org/officeDocument/2006/relationships" id="261" r:id="R826cd1054ea641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d9790ec644c2a" /><Relationship Type="http://schemas.openxmlformats.org/officeDocument/2006/relationships/slideMaster" Target="/ppt/slideMasters/slideMaster1.xml" Id="R49718c5d6a3747bb" /><Relationship Type="http://schemas.openxmlformats.org/officeDocument/2006/relationships/notesMaster" Target="/ppt/notesMasters/notesMaster1.xml" Id="R56c49b81b67347e2" /><Relationship Type="http://schemas.openxmlformats.org/officeDocument/2006/relationships/presProps" Target="/ppt/presProps.xml" Id="Rb10f2b8fe9084362" /><Relationship Type="http://schemas.openxmlformats.org/officeDocument/2006/relationships/tableStyles" Target="/ppt/tableStyles.xml" Id="Rf70c021a2195402b" /><Relationship Type="http://schemas.openxmlformats.org/officeDocument/2006/relationships/slide" Target="/ppt/slides/slide1.xml" Id="R2fcd68168bbc4f20" /><Relationship Type="http://schemas.openxmlformats.org/officeDocument/2006/relationships/slide" Target="/ppt/slides/slide2.xml" Id="Rf9d5ee74e01443ca" /><Relationship Type="http://schemas.openxmlformats.org/officeDocument/2006/relationships/slide" Target="/ppt/slides/slide3.xml" Id="R87e7cd24b10f48d7" /><Relationship Type="http://schemas.openxmlformats.org/officeDocument/2006/relationships/slide" Target="/ppt/slides/slide4.xml" Id="R9293f2ee369c4969" /><Relationship Type="http://schemas.openxmlformats.org/officeDocument/2006/relationships/slide" Target="/ppt/slides/slide5.xml" Id="Rbb23127ff6b843f0" /><Relationship Type="http://schemas.openxmlformats.org/officeDocument/2006/relationships/slide" Target="/ppt/slides/slide6.xml" Id="R826cd1054ea641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e66f6ac7e343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2f921b8153466e" /><Relationship Type="http://schemas.openxmlformats.org/officeDocument/2006/relationships/notesMaster" Target="/ppt/notesMasters/notesMaster1.xml" Id="Rbc2438c373534d3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d08c5e87d142d7" /><Relationship Type="http://schemas.openxmlformats.org/officeDocument/2006/relationships/notesMaster" Target="/ppt/notesMasters/notesMaster1.xml" Id="R027f6a4132fe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039b20be94d76" /><Relationship Type="http://schemas.openxmlformats.org/officeDocument/2006/relationships/notesMaster" Target="/ppt/notesMasters/notesMaster1.xml" Id="R8e3164868d4c4f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e1c79a778b43b4" /><Relationship Type="http://schemas.openxmlformats.org/officeDocument/2006/relationships/notesMaster" Target="/ppt/notesMasters/notesMaster1.xml" Id="R5ab1f1e4ba6d41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e7cfa6e7244c3c" /><Relationship Type="http://schemas.openxmlformats.org/officeDocument/2006/relationships/notesMaster" Target="/ppt/notesMasters/notesMaster1.xml" Id="Ra6209436aa8644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47248658834f7a" /><Relationship Type="http://schemas.openxmlformats.org/officeDocument/2006/relationships/notesMaster" Target="/ppt/notesMasters/notesMaster1.xml" Id="R8bdfbe4f301149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Smith L. N., Topin N. Super-Convergence: Very Fast Training of Neural Networks Using Large Learning Rates. arXiv:1708.07120v3. https://arxiv.org/html/1708.07120v3</a:t>
            </a:r>
          </a:p>
          <a:p xmlns:a="http://schemas.openxmlformats.org/drawingml/2006/main">
            <a:r>
              <a:t>Воспроизведение CLR из таблицы 6 и сравнение с нашим step LR. ResNet-56, CIFAR-10, seed 0. Бюджеты: 2000 и 4000 шагов.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Smith L. N., Topin N. Super-Convergence: Very Fast Training of Neural Networks Using Large Learning Rates. arXiv:1708.07120v3. https://arxiv.org/html/1708.07120v3</a:t>
            </a:r>
          </a:p>
          <a:p xmlns:a="http://schemas.openxmlformats.org/drawingml/2006/main">
            <a:r>
              <a:t>Рисунок 1a: 91,2% примерно за 80 000 шагов и 92,4% за 10 000. Авторы связывают большой LR с регуляризацией. Наш CLR соответствует таблице 6: 2000 шагов, LR от 0,1 до 3 и обратно. Step LR использует 4000 шагов с понижениями после 2000 и 3000. На графике CLR показаны границы цикла с индексами 0, 1000 и 2000; фактические индексы обучения: 0...1999.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Данные: results/gcp-l4-table6-2000-20261010/paper/metrics.jsonl и results/gcp-l4-speed-4000-20261010/step/metrics.jsonl.</a:t>
            </a:r>
          </a:p>
          <a:p xmlns:a="http://schemas.openxmlformats.org/drawingml/2006/main">
            <a:r>
              <a:t>Одинаковые начальные веса, порядок данных, случайные горизонтальные отражения, CaffeSGD и накопление статистик BN. Batch 1000 состоит из восьми microbatch по 125. В обоих запусках seed 0, BN fraction 0,80 и weight decay 0,0001. Порог 90% и бюджет step LR выбраны после просмотра CLR, до запуска step LR.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Данные: results/gcp-l4-table6-2000-20261010/paper/metrics.jsonl и results/gcp-l4-speed-4000-20261010/step/metrics.jsonl.</a:t>
            </a:r>
          </a:p>
          <a:p xmlns:a="http://schemas.openxmlformats.org/drawingml/2006/main">
            <a:r>
              <a:t>Каждая точка соответствует оценке на всех 10 000 test-примерах. Прямые линии соединяют соседние замеры. Масштаб обеих кривых одинаковый. CLR: 2000 шагов, step LR: 4000.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Данные: results/gcp-l4-table6-2000-20261010/paper/metrics.jsonl и results/gcp-l4-speed-4000-20261010/step/metrics.jsonl.</a:t>
            </a:r>
          </a:p>
          <a:p xmlns:a="http://schemas.openxmlformats.org/drawingml/2006/main">
            <a:r>
              <a:t>Итоговые accuracy: 0,909 и 0,8393. Разница: 6,97 процентного пункта. Время включает подачу данных и синхронизированные шаги обучения: 708,0710497240015 с и 1433,5442098259969 с. Оценка проходит каждые 100 шагов.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Smith L. N., Topin N. Super-Convergence: Very Fast Training of Neural Networks Using Large Learning Rates. arXiv:1708.07120v3. https://arxiv.org/html/1708.07120v3</a:t>
            </a:r>
          </a:p>
          <a:p xmlns:a="http://schemas.openxmlformats.org/drawingml/2006/main">
            <a:r>
              <a:t>Данные: results/gcp-l4-table6-2000-20261010/paper/metrics.jsonl и results/gcp-l4-speed-4000-20261010/step/metrics.jsonl.</a:t>
            </a:r>
          </a:p>
          <a:p xmlns:a="http://schemas.openxmlformats.org/drawingml/2006/main">
            <a:r>
              <a:t>CLR в таблице 6: 89,7% за 2000 шагов. Наш CLR: 90,90% за 2000 шагов. Наш step LR: 83,93% за 4000 шагов. Результаты относятся к указанным конфигурациям и seed 0. Код авторов: https://github.com/lnsmith54/super-convergence/tree/ecc561594b39442661e7e0a39d2820b0f4147324</a:t>
            </a:r>
          </a:p>
          <a:p xmlns:a="http://schemas.openxmlformats.org/drawingml/2006/main">
            <a:r>
              <a:t>Команды повторения: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687a86c4ec4b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5971205cb541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a0676798e44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61b48cbf744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4e047c780e426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7f99a5bb534a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61392F5-563F-4231-8E8C-16621B8B65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CF9084C-D1DE-45BA-A493-78ED010BDC7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2C275C4-2C2E-4307-A440-57C95A469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274CBB-D544-4ACF-95C9-4DDE87EFAF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669EE73-698E-49C4-99D5-8552913A1D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E63D366-C0C9-4A9F-A62B-D45740D640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5BE9496-5CBA-4565-B658-A276F1336D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A42BC92-6FE6-4693-9A51-DB3401D67B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4393BF-A3C0-4612-B1EA-D74F1EC0B8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2391C4D-7BDE-4E18-9C9F-B4A0969A6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01c81bc1e24bdc" /><Relationship Type="http://schemas.openxmlformats.org/officeDocument/2006/relationships/slideLayout" Target="/ppt/slideLayouts/slideLayout1.xml" Id="R0e8d0f1116104528" /><Relationship Type="http://schemas.openxmlformats.org/officeDocument/2006/relationships/slideLayout" Target="/ppt/slideLayouts/slideLayout2.xml" Id="Ra4b407bc09434e58" /><Relationship Type="http://schemas.openxmlformats.org/officeDocument/2006/relationships/slideLayout" Target="/ppt/slideLayouts/slideLayout3.xml" Id="R50d561030cba4282" /><Relationship Type="http://schemas.openxmlformats.org/officeDocument/2006/relationships/slideLayout" Target="/ppt/slideLayouts/slideLayout4.xml" Id="R559e3b16b92d4462" /><Relationship Type="http://schemas.openxmlformats.org/officeDocument/2006/relationships/slideLayout" Target="/ppt/slideLayouts/slideLayout5.xml" Id="R491bad0551fc486d" /><Relationship Type="http://schemas.openxmlformats.org/officeDocument/2006/relationships/slideLayout" Target="/ppt/slideLayouts/slideLayout6.xml" Id="R2647186011e44c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8d0f1116104528"/>
    <p:sldLayoutId xmlns:r="http://schemas.openxmlformats.org/officeDocument/2006/relationships" id="2147483650" r:id="Ra4b407bc09434e58"/>
    <p:sldLayoutId xmlns:r="http://schemas.openxmlformats.org/officeDocument/2006/relationships" id="2147483651" r:id="R50d561030cba4282"/>
    <p:sldLayoutId xmlns:r="http://schemas.openxmlformats.org/officeDocument/2006/relationships" id="2147483652" r:id="R559e3b16b92d4462"/>
    <p:sldLayoutId xmlns:r="http://schemas.openxmlformats.org/officeDocument/2006/relationships" id="2147483653" r:id="R491bad0551fc486d"/>
    <p:sldLayoutId xmlns:r="http://schemas.openxmlformats.org/officeDocument/2006/relationships" id="2147483654" r:id="R2647186011e44c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4eef3a9858428d" /><Relationship Type="http://schemas.openxmlformats.org/officeDocument/2006/relationships/notesSlide" Target="/ppt/notesSlides/notesSlide1.xml" Id="Rc9b0187c89fb41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274a6343b4d05" /><Relationship Type="http://schemas.openxmlformats.org/officeDocument/2006/relationships/chart" Target="/ppt/slides/charts/chart1.xml" Id="R976391d4d0f0424a" /><Relationship Type="http://schemas.openxmlformats.org/officeDocument/2006/relationships/notesSlide" Target="/ppt/notesSlides/notesSlide2.xml" Id="R67a1b473ee9145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c69ba92ec47b8" /><Relationship Type="http://schemas.openxmlformats.org/officeDocument/2006/relationships/notesSlide" Target="/ppt/notesSlides/notesSlide3.xml" Id="R4cca74131f4247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9f93a426cb404f" /><Relationship Type="http://schemas.openxmlformats.org/officeDocument/2006/relationships/chart" Target="/ppt/slides/charts/chart2.xml" Id="R4fbe0be182574a64" /><Relationship Type="http://schemas.openxmlformats.org/officeDocument/2006/relationships/chart" Target="/ppt/slides/charts/chart3.xml" Id="Ra87a009fcb994f6c" /><Relationship Type="http://schemas.openxmlformats.org/officeDocument/2006/relationships/notesSlide" Target="/ppt/notesSlides/notesSlide4.xml" Id="Re8f073b1860444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e6d30d04214f80" /><Relationship Type="http://schemas.openxmlformats.org/officeDocument/2006/relationships/notesSlide" Target="/ppt/notesSlides/notesSlide5.xml" Id="Rb0b78a105a8f46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332cddd6ec4caa" /><Relationship Type="http://schemas.openxmlformats.org/officeDocument/2006/relationships/notesSlide" Target="/ppt/notesSlides/notesSlide6.xml" Id="R5daef8aa52c34a5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CLR</c:v>
          </c:tx>
          <c:spPr>
            <a:ln xmlns:a="http://schemas.openxmlformats.org/drawingml/2006/main" w="28575">
              <a:solidFill>
                <a:srgbClr val="2563A6"/>
              </a:solidFill>
            </a:ln>
          </c:spPr>
          <c:marker>
            <c:symbol val="none"/>
          </c:marker>
          <c:xVal>
            <c:numRef>
              <c:f>'Chart Data'!$A$2:$A$4</c:f>
              <c:numCache>
                <c:formatCode>General</c:formatCode>
                <c:ptCount val="3"/>
                <c:pt idx="0">
                  <c:v>0</c:v>
                </c:pt>
                <c:pt idx="1">
                  <c:v>1000</c:v>
                </c:pt>
                <c:pt idx="2">
                  <c:v>2000</c:v>
                </c:pt>
              </c:numCache>
            </c:numRef>
          </c:xVal>
          <c:yVal>
            <c:numRef>
              <c:f>'Chart Data'!$B$2:$B$4</c:f>
              <c:numCache>
                <c:formatCode>General</c:formatCode>
                <c:ptCount val="3"/>
                <c:pt idx="0">
                  <c:v>0.1</c:v>
                </c:pt>
                <c:pt idx="1">
                  <c:v>3</c:v>
                </c:pt>
                <c:pt idx="2">
                  <c:v>0.1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4EA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Learning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2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latin typeface="Arial"/>
                    <a:ea typeface="Arial"/>
                    <a:cs typeface="Arial"/>
                  </a:rPr>
                  <a:t>Шаги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500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CLR</c:v>
          </c:tx>
          <c:spPr>
            <a:ln xmlns:a="http://schemas.openxmlformats.org/drawingml/2006/main" w="28575">
              <a:solidFill>
                <a:srgbClr val="2563A6"/>
              </a:solidFill>
            </a:ln>
          </c:spPr>
          <c:marker>
            <c:symbol val="none"/>
          </c:marker>
          <c:xVal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</c:numCache>
            </c:numRef>
          </c:xVal>
          <c:yVal>
            <c:numRef>
              <c:f>'Chart Data'!$B$2:$B$22</c:f>
              <c:numCache>
                <c:formatCode>0%</c:formatCode>
                <c:ptCount val="21"/>
                <c:pt idx="0">
                  <c:v>0.1</c:v>
                </c:pt>
                <c:pt idx="1">
                  <c:v>0.2208</c:v>
                </c:pt>
                <c:pt idx="2">
                  <c:v>0.4523</c:v>
                </c:pt>
                <c:pt idx="3">
                  <c:v>0.5612</c:v>
                </c:pt>
                <c:pt idx="4">
                  <c:v>0.6954</c:v>
                </c:pt>
                <c:pt idx="5">
                  <c:v>0.764</c:v>
                </c:pt>
                <c:pt idx="6">
                  <c:v>0.778</c:v>
                </c:pt>
                <c:pt idx="7">
                  <c:v>0.7757</c:v>
                </c:pt>
                <c:pt idx="8">
                  <c:v>0.7394</c:v>
                </c:pt>
                <c:pt idx="9">
                  <c:v>0.7512</c:v>
                </c:pt>
                <c:pt idx="10">
                  <c:v>0.735</c:v>
                </c:pt>
                <c:pt idx="11">
                  <c:v>0.7829</c:v>
                </c:pt>
                <c:pt idx="12">
                  <c:v>0.8161</c:v>
                </c:pt>
                <c:pt idx="13">
                  <c:v>0.8193</c:v>
                </c:pt>
                <c:pt idx="14">
                  <c:v>0.817</c:v>
                </c:pt>
                <c:pt idx="15">
                  <c:v>0.8509</c:v>
                </c:pt>
                <c:pt idx="16">
                  <c:v>0.8402</c:v>
                </c:pt>
                <c:pt idx="17">
                  <c:v>0.8472</c:v>
                </c:pt>
                <c:pt idx="18">
                  <c:v>0.869</c:v>
                </c:pt>
                <c:pt idx="19">
                  <c:v>0.8934</c:v>
                </c:pt>
                <c:pt idx="20">
                  <c:v>0.909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4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F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4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Шаги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00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Ступенчатый LR</c:v>
          </c:tx>
          <c:spPr>
            <a:ln xmlns:a="http://schemas.openxmlformats.org/drawingml/2006/main" w="28575">
              <a:solidFill>
                <a:srgbClr val="C3632B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100</c:v>
                </c:pt>
                <c:pt idx="2">
                  <c:v>200</c:v>
                </c:pt>
                <c:pt idx="3">
                  <c:v>300</c:v>
                </c:pt>
                <c:pt idx="4">
                  <c:v>400</c:v>
                </c:pt>
                <c:pt idx="5">
                  <c:v>500</c:v>
                </c:pt>
                <c:pt idx="6">
                  <c:v>600</c:v>
                </c:pt>
                <c:pt idx="7">
                  <c:v>700</c:v>
                </c:pt>
                <c:pt idx="8">
                  <c:v>800</c:v>
                </c:pt>
                <c:pt idx="9">
                  <c:v>900</c:v>
                </c:pt>
                <c:pt idx="10">
                  <c:v>1000</c:v>
                </c:pt>
                <c:pt idx="11">
                  <c:v>1100</c:v>
                </c:pt>
                <c:pt idx="12">
                  <c:v>1200</c:v>
                </c:pt>
                <c:pt idx="13">
                  <c:v>1300</c:v>
                </c:pt>
                <c:pt idx="14">
                  <c:v>1400</c:v>
                </c:pt>
                <c:pt idx="15">
                  <c:v>1500</c:v>
                </c:pt>
                <c:pt idx="16">
                  <c:v>1600</c:v>
                </c:pt>
                <c:pt idx="17">
                  <c:v>1700</c:v>
                </c:pt>
                <c:pt idx="18">
                  <c:v>1800</c:v>
                </c:pt>
                <c:pt idx="19">
                  <c:v>1900</c:v>
                </c:pt>
                <c:pt idx="20">
                  <c:v>2000</c:v>
                </c:pt>
                <c:pt idx="21">
                  <c:v>2100</c:v>
                </c:pt>
                <c:pt idx="22">
                  <c:v>2200</c:v>
                </c:pt>
                <c:pt idx="23">
                  <c:v>2300</c:v>
                </c:pt>
                <c:pt idx="24">
                  <c:v>2400</c:v>
                </c:pt>
                <c:pt idx="25">
                  <c:v>2500</c:v>
                </c:pt>
                <c:pt idx="26">
                  <c:v>2600</c:v>
                </c:pt>
                <c:pt idx="27">
                  <c:v>2700</c:v>
                </c:pt>
                <c:pt idx="28">
                  <c:v>2800</c:v>
                </c:pt>
                <c:pt idx="29">
                  <c:v>2900</c:v>
                </c:pt>
                <c:pt idx="30">
                  <c:v>3000</c:v>
                </c:pt>
                <c:pt idx="31">
                  <c:v>3100</c:v>
                </c:pt>
                <c:pt idx="32">
                  <c:v>3200</c:v>
                </c:pt>
                <c:pt idx="33">
                  <c:v>3300</c:v>
                </c:pt>
                <c:pt idx="34">
                  <c:v>3400</c:v>
                </c:pt>
                <c:pt idx="35">
                  <c:v>3500</c:v>
                </c:pt>
                <c:pt idx="36">
                  <c:v>3600</c:v>
                </c:pt>
                <c:pt idx="37">
                  <c:v>3700</c:v>
                </c:pt>
                <c:pt idx="38">
                  <c:v>3800</c:v>
                </c:pt>
                <c:pt idx="39">
                  <c:v>3900</c:v>
                </c:pt>
                <c:pt idx="40">
                  <c:v>4000</c:v>
                </c:pt>
              </c:numCache>
            </c:numRef>
          </c:xVal>
          <c:yVal>
            <c:numRef>
              <c:f>'Chart Data'!$B$2:$B$42</c:f>
              <c:numCache>
                <c:formatCode>0%</c:formatCode>
                <c:ptCount val="41"/>
                <c:pt idx="0">
                  <c:v>0.1</c:v>
                </c:pt>
                <c:pt idx="1">
                  <c:v>0.1148</c:v>
                </c:pt>
                <c:pt idx="2">
                  <c:v>0.2165</c:v>
                </c:pt>
                <c:pt idx="3">
                  <c:v>0.3729</c:v>
                </c:pt>
                <c:pt idx="4">
                  <c:v>0.5085</c:v>
                </c:pt>
                <c:pt idx="5">
                  <c:v>0.5906</c:v>
                </c:pt>
                <c:pt idx="6">
                  <c:v>0.6309</c:v>
                </c:pt>
                <c:pt idx="7">
                  <c:v>0.677</c:v>
                </c:pt>
                <c:pt idx="8">
                  <c:v>0.6889</c:v>
                </c:pt>
                <c:pt idx="9">
                  <c:v>0.735</c:v>
                </c:pt>
                <c:pt idx="10">
                  <c:v>0.7406</c:v>
                </c:pt>
                <c:pt idx="11">
                  <c:v>0.7701</c:v>
                </c:pt>
                <c:pt idx="12">
                  <c:v>0.7609</c:v>
                </c:pt>
                <c:pt idx="13">
                  <c:v>0.7754</c:v>
                </c:pt>
                <c:pt idx="14">
                  <c:v>0.7883</c:v>
                </c:pt>
                <c:pt idx="15">
                  <c:v>0.7781</c:v>
                </c:pt>
                <c:pt idx="16">
                  <c:v>0.7921</c:v>
                </c:pt>
                <c:pt idx="17">
                  <c:v>0.7927</c:v>
                </c:pt>
                <c:pt idx="18">
                  <c:v>0.7904</c:v>
                </c:pt>
                <c:pt idx="19">
                  <c:v>0.7853</c:v>
                </c:pt>
                <c:pt idx="20">
                  <c:v>0.805</c:v>
                </c:pt>
                <c:pt idx="21">
                  <c:v>0.8352</c:v>
                </c:pt>
                <c:pt idx="22">
                  <c:v>0.8385</c:v>
                </c:pt>
                <c:pt idx="23">
                  <c:v>0.8391</c:v>
                </c:pt>
                <c:pt idx="24">
                  <c:v>0.8402</c:v>
                </c:pt>
                <c:pt idx="25">
                  <c:v>0.8405</c:v>
                </c:pt>
                <c:pt idx="26">
                  <c:v>0.8397</c:v>
                </c:pt>
                <c:pt idx="27">
                  <c:v>0.8372</c:v>
                </c:pt>
                <c:pt idx="28">
                  <c:v>0.8386</c:v>
                </c:pt>
                <c:pt idx="29">
                  <c:v>0.8369</c:v>
                </c:pt>
                <c:pt idx="30">
                  <c:v>0.8388</c:v>
                </c:pt>
                <c:pt idx="31">
                  <c:v>0.8376</c:v>
                </c:pt>
                <c:pt idx="32">
                  <c:v>0.8368</c:v>
                </c:pt>
                <c:pt idx="33">
                  <c:v>0.8386</c:v>
                </c:pt>
                <c:pt idx="34">
                  <c:v>0.8388</c:v>
                </c:pt>
                <c:pt idx="35">
                  <c:v>0.8385</c:v>
                </c:pt>
                <c:pt idx="36">
                  <c:v>0.8393</c:v>
                </c:pt>
                <c:pt idx="37">
                  <c:v>0.8387</c:v>
                </c:pt>
                <c:pt idx="38">
                  <c:v>0.8395</c:v>
                </c:pt>
                <c:pt idx="39">
                  <c:v>0.8401</c:v>
                </c:pt>
                <c:pt idx="40">
                  <c:v>0.8393</c:v>
                </c:pt>
              </c:numCache>
            </c:numRef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4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F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majorUnit val="0.2"/>
      </c:valAx>
      <c:valAx>
        <c:axId val="48650112"/>
        <c:scaling>
          <c:orientation val="minMax"/>
          <c:max val="40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Arial"/>
                    <a:ea typeface="Arial"/>
                    <a:cs typeface="Arial"/>
                  </a:rPr>
                  <a:t>Шаги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F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  <c:majorUnit val="2000"/>
      </c:valAx>
      <c:spPr>
        <a:solidFill xmlns:a="http://schemas.openxmlformats.org/drawingml/2006/main">
          <a:srgbClr val="FFFFFF"/>
        </a:solidFill>
      </c:spPr>
    </c:plotArea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251BC-88C6-43C9-9073-993BE8894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Super-Convergence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8C6CF-2743-4463-A96B-BDFE00FE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106680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Сравнение CLR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step LR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F3C1B-053C-4225-8A9B-C5236C71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1047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D8E3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D8E3F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3F0"/>
                </a:solidFill>
                <a:latin typeface="Arial"/>
                <a:ea typeface="Arial"/>
                <a:cs typeface="Arial"/>
              </a:rPr>
              <a:t>ResNet-56 на CIFAR-10</a:t>
            </a:r>
          </a:p>
          <a:p xmlns:a="http://schemas.openxmlformats.org/drawingml/2006/main">
            <a:pPr>
              <a:buNone/>
              <a:defRPr sz="2175" b="0">
                <a:solidFill>
                  <a:srgbClr val="D8E3F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8E3F0"/>
                </a:solidFill>
                <a:latin typeface="Arial"/>
                <a:ea typeface="Arial"/>
                <a:cs typeface="Arial"/>
              </a:rPr>
              <a:t>PyTorch, NVIDIA L4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2E033-D851-4B1A-9525-7786D2A7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48325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8E3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725" b="0">
                <a:solidFill>
                  <a:srgbClr val="D8E3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3F0"/>
                </a:solidFill>
                <a:latin typeface="Arial"/>
                <a:ea typeface="Arial"/>
                <a:cs typeface="Arial"/>
              </a:rPr>
              <a:t>Leslie N. Smith, Nicholay Topin</a:t>
            </a:r>
          </a:p>
          <a:p xmlns:a="http://schemas.openxmlformats.org/drawingml/2006/main">
            <a:pPr>
              <a:buNone/>
              <a:defRPr sz="1725" b="0">
                <a:solidFill>
                  <a:srgbClr val="D8E3F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8E3F0"/>
                </a:solidFill>
                <a:latin typeface="Arial"/>
                <a:ea typeface="Arial"/>
                <a:cs typeface="Arial"/>
              </a:rPr>
              <a:t>arXiv:1708.07120</a:t>
            </a:r>
          </a:p>
        </p:txBody>
      </p:sp>
    </p:spTree>
    <p:extLst>
      <p:ext uri="{BB962C8B-B14F-4D97-AF65-F5344CB8AC3E}">
        <p14:creationId xmlns:p14="http://schemas.microsoft.com/office/powerpoint/2010/main" val="5076404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1DDCD-215C-4DC4-8272-93834B5E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Идея статьи и цикл LR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8629F6-5988-472E-B5EE-DBE5F655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5FDFB9-4EDC-45FA-82FA-31F2954F7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Большой LR в одном цикле может ускорить обучение.</a:t>
            </a:r>
          </a:p>
          <a:p xmlns:a="http://schemas.openxmlformats.org/drawingml/2006/main">
            <a:pPr>
              <a:buNone/>
              <a:defRPr sz="21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В статье: около 8 раз меньше шагов при близкой accuracy.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300E73A-5E75-4C21-BD2F-F327E821842B}"/>
              </a:ext>
            </a:extLst>
          </p:cNvPr>
          <p:cNvGraphicFramePr/>
          <p:nvPr/>
        </p:nvGraphicFramePr>
        <p:xfrm>
          <a:off xmlns:a="http://schemas.openxmlformats.org/drawingml/2006/main" x="609600" y="2581275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76391d4d0f0424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E7250-086C-467F-92F6-C78130D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Наш step LR: 0,1, затем 0,01 и 0,001 за 4000 шагов.</a:t>
            </a:r>
          </a:p>
        </p:txBody>
      </p:sp>
    </p:spTree>
    <p:extLst>
      <p:ext uri="{BB962C8B-B14F-4D97-AF65-F5344CB8AC3E}">
        <p14:creationId xmlns:p14="http://schemas.microsoft.com/office/powerpoint/2010/main" val="2046972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01232-6715-4929-96B9-4A97F47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Условия сравнения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75EF3-246D-4272-A259-D4415AC4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68D64-D44A-4097-A7AE-09F9FCC78825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48125"/>
                <a:gridCol w="6924675"/>
              </a:tblGrid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Параметр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1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Одинаково для двух запусков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Модель и данные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ResNet-56, 50 000 train / 10 000 test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Batch / microbatch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1000 / 125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Momentum / weight decay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0,9 / 0,0001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BatchNorm fraction / seed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0,80 /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Оценка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Каждые 100 шагов, 10 000 test-примеров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Метрика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8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Test accuracy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05CBB-249B-45F7-8C42-49D7AD86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Одна NVIDIA L4. Различаются LR schedule и число шагов.</a:t>
            </a:r>
          </a:p>
          <a:p xmlns:a="http://schemas.openxmlformats.org/drawingml/2006/main">
            <a:pPr>
              <a:buNone/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Порог 90% выбран после просмотра запуска CLR.</a:t>
            </a:r>
          </a:p>
        </p:txBody>
      </p:sp>
    </p:spTree>
    <p:extLst>
      <p:ext uri="{BB962C8B-B14F-4D97-AF65-F5344CB8AC3E}">
        <p14:creationId xmlns:p14="http://schemas.microsoft.com/office/powerpoint/2010/main" val="244542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1A06E-9663-45FF-9424-F9CAD42A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Кривые accuracy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814B6-89D4-4A9A-97CA-512FA89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A839D4-1292-42DF-8173-5604C375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CLR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D8696-B4D1-4537-9B2F-8E5EDC34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95425"/>
            <a:ext cx="5219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C363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250" b="1">
                <a:solidFill>
                  <a:srgbClr val="C363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3632B"/>
                </a:solidFill>
                <a:latin typeface="Arial"/>
                <a:ea typeface="Arial"/>
                <a:cs typeface="Arial"/>
              </a:rPr>
              <a:t>step LR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CA4BA66-8E34-46CB-8323-626D2015599D}"/>
              </a:ext>
            </a:extLst>
          </p:cNvPr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5219700" cy="3743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fbe0be182574a6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0D109F4-8E4A-4853-9B79-EC45F2A3CDDD}"/>
              </a:ext>
            </a:extLst>
          </p:cNvPr>
          <p:cNvGraphicFramePr/>
          <p:nvPr/>
        </p:nvGraphicFramePr>
        <p:xfrm>
          <a:off xmlns:a="http://schemas.openxmlformats.org/drawingml/2006/main" x="6343650" y="2038350"/>
          <a:ext xmlns:a="http://schemas.openxmlformats.org/drawingml/2006/main" cx="5219700" cy="3743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7a009fcb994f6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4AAB4D-AEFB-4998-8CAB-0EF04055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Test accuracy: CLR 90,90%, step LR 83,93%.</a:t>
            </a:r>
          </a:p>
        </p:txBody>
      </p:sp>
    </p:spTree>
    <p:extLst>
      <p:ext uri="{BB962C8B-B14F-4D97-AF65-F5344CB8AC3E}">
        <p14:creationId xmlns:p14="http://schemas.microsoft.com/office/powerpoint/2010/main" val="2078199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33982-851A-4143-8AA8-DC609CC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Результаты запусков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CC929A-10FD-4C43-8BA5-4B35DA6C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4F6D7-2A12-4D51-B495-662CB66D2678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4820900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809750"/>
                <a:gridCol w="3143250"/>
                <a:gridCol w="3733800"/>
              </a:tblGrid>
              <a:tr h="787400"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Режим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Шаги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Test accuracy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1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Время обучения</a:t>
                      </a:r>
                    </a:p>
                  </a:txBody>
                  <a:tcPr marL="91440" marR="91440" marT="45720" marB="45720" anchor="ctr">
                    <a:solidFill>
                      <a:srgbClr val="F1F4F7"/>
                    </a:solidFill>
                  </a:tcPr>
                </a:tc>
              </a:tr>
              <a:tr h="787400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CLR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90,90%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11 мин 48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87400"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step LR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4000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83,93%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2175" b="0">
                          <a:solidFill>
                            <a:srgbClr val="17243A"/>
                          </a:solidFill>
                          <a:latin typeface="Arial"/>
                          <a:ea typeface="Arial"/>
                          <a:cs typeface="Arial"/>
                        </a:rPr>
                        <a:t>23 мин 54 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D05640-A2DC-429E-A3BC-3A10E45F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109728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5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Разница accuracy составила 6,97 п.п.</a:t>
            </a:r>
          </a:p>
          <a:p xmlns:a="http://schemas.openxmlformats.org/drawingml/2006/main">
            <a:pPr>
              <a:buNone/>
              <a:defRPr sz="25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CLR: 2000 шагов, step LR: 4000.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7477A-4C3A-49C4-9169-2FA1B5F5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87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Время включает подачу данных и шаги обучения.</a:t>
            </a:r>
          </a:p>
        </p:txBody>
      </p:sp>
    </p:spTree>
    <p:extLst>
      <p:ext uri="{BB962C8B-B14F-4D97-AF65-F5344CB8AC3E}">
        <p14:creationId xmlns:p14="http://schemas.microsoft.com/office/powerpoint/2010/main" val="713574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21DB8-3150-47E2-980E-F4595BC7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3300" b="1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43A"/>
                </a:solidFill>
                <a:latin typeface="Arial"/>
                <a:ea typeface="Arial"/>
                <a:cs typeface="Arial"/>
              </a:rPr>
              <a:t>Вывод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17469-9E40-40B0-975B-80CF9C71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EBCE2-6F3D-4AB9-8D07-8B88BD78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8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CLR: 90,90% за 2000 шагов.</a:t>
            </a:r>
          </a:p>
          <a:p xmlns:a="http://schemas.openxmlformats.org/drawingml/2006/main">
            <a:pPr>
              <a:buNone/>
              <a:defRPr sz="2850" b="1">
                <a:solidFill>
                  <a:srgbClr val="2563A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563A6"/>
                </a:solidFill>
                <a:latin typeface="Arial"/>
                <a:ea typeface="Arial"/>
                <a:cs typeface="Arial"/>
              </a:rPr>
              <a:t>Step LR: 83,93% за 4000 шагов.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7034D-1DEE-41DF-8DD8-929BC078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1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В таблице 6 статьи CLR дал 89,7% за 2000 шагов.</a:t>
            </a:r>
          </a:p>
          <a:p xmlns:a="http://schemas.openxmlformats.org/drawingml/2006/main">
            <a:pPr>
              <a:buNone/>
              <a:defRPr sz="2175" b="0">
                <a:solidFill>
                  <a:srgbClr val="17243A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43A"/>
                </a:solidFill>
                <a:latin typeface="Arial"/>
                <a:ea typeface="Arial"/>
                <a:cs typeface="Arial"/>
              </a:rPr>
              <a:t>В нашем запуске за те же 2000 шагов получилось 90,90%.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7E60AB-6032-4583-BF4E-1B465C3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2025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D6D45-174E-4288-93F5-78C703EC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buNone/>
              <a:defRPr sz="1650" b="0">
                <a:solidFill>
                  <a:srgbClr val="5261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175"/>
                </a:solidFill>
                <a:latin typeface="Arial"/>
                <a:ea typeface="Arial"/>
                <a:cs typeface="Arial"/>
              </a:rPr>
              <a:t>Статья: Smith, Topin, arXiv:1708.07120v3. Код и команды: README.md</a:t>
            </a:r>
          </a:p>
        </p:txBody>
      </p:sp>
    </p:spTree>
    <p:extLst>
      <p:ext uri="{BB962C8B-B14F-4D97-AF65-F5344CB8AC3E}">
        <p14:creationId xmlns:p14="http://schemas.microsoft.com/office/powerpoint/2010/main" val="546537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/>
  <ap:PresentationFormat>Converted Presentation</ap:PresentationFormat>
  <ap:Slides>6</ap:Slides>
  <ap:Notes>6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/>
  <dc:title>Super-Convergence</dc:title>
  <dcterms:created xsi:type="dcterms:W3CDTF">2026-10-10T20:54:14.1150000Z</dcterms:created>
  <dcterms:modified xsi:type="dcterms:W3CDTF">2026-10-10T20:54:14.1150000Z</dcterms:modified>
</coreProperties>
</file>